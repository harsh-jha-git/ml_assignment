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130425"/>
            <a:ext cx="7772400" cy="1470025"/>
          </a:xfrm>
        </p:spPr>
        <p:txBody>
          <a:bodyPr/>
          <a:lstStyle/>
          <a:p>
            <a:r>
              <a:rPr dirty="0"/>
              <a:t>Predicting Myocardial Infarction Risk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927987"/>
            <a:ext cx="6400800" cy="1752600"/>
          </a:xfrm>
        </p:spPr>
        <p:txBody>
          <a:bodyPr/>
          <a:lstStyle/>
          <a:p>
            <a:r>
              <a:rPr dirty="0"/>
              <a:t>Team 49 </a:t>
            </a:r>
            <a:endParaRPr lang="en-US" dirty="0"/>
          </a:p>
          <a:p>
            <a:r>
              <a:rPr lang="en-IN" dirty="0"/>
              <a:t>GAUTAM KRISHNA – PES2UG24CS169</a:t>
            </a:r>
          </a:p>
          <a:p>
            <a:r>
              <a:rPr lang="en-IN" dirty="0"/>
              <a:t>HARSH JHA – PES2UG24CS182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Objective: predict low/high myocardial infarction (MI) risk from 13 clinical features.</a:t>
            </a:r>
          </a:p>
          <a:p>
            <a:pPr>
              <a:spcAft>
                <a:spcPts val="1000"/>
              </a:spcAft>
              <a:defRPr sz="2000"/>
            </a:pPr>
            <a:r>
              <a:t>Study both supervised classification and unsupervised patient clustering.</a:t>
            </a:r>
          </a:p>
          <a:p>
            <a:pPr>
              <a:spcAft>
                <a:spcPts val="1000"/>
              </a:spcAft>
              <a:defRPr sz="2000"/>
            </a:pPr>
            <a:r>
              <a:t>Build a reproducible ML pipeline with leakage-controlled preprocessing and held-out evaluation.</a:t>
            </a:r>
          </a:p>
          <a:p>
            <a:pPr>
              <a:spcAft>
                <a:spcPts val="1000"/>
              </a:spcAft>
              <a:defRPr sz="2000"/>
            </a:pPr>
            <a:r>
              <a:t>Academic prediction system only; not a clinically validated diagnostic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Dataset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6766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Heart Attack Analysis &amp; Prediction Dataset: 303 records and 13 predictors.</a:t>
            </a:r>
          </a:p>
          <a:p>
            <a:pPr>
              <a:spcAft>
                <a:spcPts val="1000"/>
              </a:spcAft>
              <a:defRPr sz="2000"/>
            </a:pPr>
            <a:r>
              <a:t>Binary target: output = 0/1 for low/high MI risk.</a:t>
            </a:r>
          </a:p>
          <a:p>
            <a:pPr>
              <a:spcAft>
                <a:spcPts val="1000"/>
              </a:spcAft>
              <a:defRPr sz="2000"/>
            </a:pPr>
            <a:r>
              <a:t>0 missing values; 1 exact duplicate was removed → 302 unique records.</a:t>
            </a:r>
          </a:p>
          <a:p>
            <a:pPr>
              <a:spcAft>
                <a:spcPts val="1000"/>
              </a:spcAft>
              <a:defRPr sz="2000"/>
            </a:pPr>
            <a:r>
              <a:t>60/20/20 stratified train/validation/test split.</a:t>
            </a:r>
          </a:p>
          <a:p>
            <a:pPr>
              <a:spcAft>
                <a:spcPts val="1000"/>
              </a:spcAft>
              <a:defRPr sz="2000"/>
            </a:pPr>
            <a:r>
              <a:t>Scaling is encapsulated inside Scikit-learn Pipelines to avoid data leakage.</a:t>
            </a:r>
          </a:p>
        </p:txBody>
      </p:sp>
      <p:pic>
        <p:nvPicPr>
          <p:cNvPr id="4" name="Picture 3" descr="eda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417320"/>
            <a:ext cx="4297680" cy="27348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Unsupervised: PCA, K-Means and DBSCAN.</a:t>
            </a:r>
          </a:p>
          <a:p>
            <a:pPr>
              <a:spcAft>
                <a:spcPts val="1000"/>
              </a:spcAft>
              <a:defRPr sz="2000"/>
            </a:pPr>
            <a:r>
              <a:t>Supervised: Logistic Regression, Elastic Net, GBM, Bagging, Random Forest, SVM (Linear/RBF/Polynomial), and MLP.</a:t>
            </a:r>
          </a:p>
          <a:p>
            <a:pPr>
              <a:spcAft>
                <a:spcPts val="1000"/>
              </a:spcAft>
              <a:defRPr sz="2000"/>
            </a:pPr>
            <a:r>
              <a:t>Hyperparameter tuning: 3-repeat 10-fold stratified cross-validation.</a:t>
            </a:r>
          </a:p>
          <a:p>
            <a:pPr>
              <a:spcAft>
                <a:spcPts val="1000"/>
              </a:spcAft>
              <a:defRPr sz="2000"/>
            </a:pPr>
            <a:r>
              <a:t>Metrics: AUROC, Accuracy, Precision, Recall and F1-score.</a:t>
            </a:r>
          </a:p>
          <a:p>
            <a:pPr>
              <a:spcAft>
                <a:spcPts val="1000"/>
              </a:spcAft>
              <a:defRPr sz="2000"/>
            </a:pPr>
            <a:r>
              <a:t>Additional analysis: calibration, threshold tuning, bootstrap CIs and interpretability.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Unsupervised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6766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PC1 + PC2 explain 33.30% of cumulative variance; 9 PCs capture ≥90%.</a:t>
            </a:r>
          </a:p>
          <a:p>
            <a:pPr>
              <a:spcAft>
                <a:spcPts val="1000"/>
              </a:spcAft>
              <a:defRPr sz="2000"/>
            </a:pPr>
            <a:r>
              <a:t>Best K-Means ARI = 0.4003 using 11 PCA components.</a:t>
            </a:r>
          </a:p>
          <a:p>
            <a:pPr>
              <a:spcAft>
                <a:spcPts val="1000"/>
              </a:spcAft>
              <a:defRPr sz="2000"/>
            </a:pPr>
            <a:r>
              <a:t>Best DBSCAN ARI = 0.1548 at ε = 2.69 and min_samples = 5.</a:t>
            </a:r>
          </a:p>
          <a:p>
            <a:pPr>
              <a:spcAft>
                <a:spcPts val="1000"/>
              </a:spcAft>
              <a:defRPr sz="2000"/>
            </a:pPr>
            <a:r>
              <a:t>Low ARI and cluster overlap indicate that supervised decision boundaries are needed for accurate risk prediction.</a:t>
            </a:r>
          </a:p>
        </p:txBody>
      </p:sp>
      <p:pic>
        <p:nvPicPr>
          <p:cNvPr id="4" name="Picture 3" descr="clustering_2d_proj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417320"/>
            <a:ext cx="4297680" cy="12134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Supervised Learning — Held-Out Test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463040"/>
          <a:ext cx="107899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0.873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0.934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0.879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0.841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SVM-RBF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0.886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0.889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Elastic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0.889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Picture 3" descr="test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4572000"/>
            <a:ext cx="4023360" cy="28400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5720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GBM achieved the highest AUROC (0.9351).</a:t>
            </a:r>
          </a:p>
          <a:p>
            <a:pPr>
              <a:defRPr sz="1800"/>
            </a:pPr>
            <a:r>
              <a:t>Logistic Regression / Elastic Net achieved the highest recall (0.9697) and F1 (0.8889).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Clinical Threshold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6766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For screening, false negatives are especially important.</a:t>
            </a:r>
          </a:p>
          <a:p>
            <a:pPr>
              <a:spcAft>
                <a:spcPts val="1000"/>
              </a:spcAft>
              <a:defRPr sz="2000"/>
            </a:pPr>
            <a:r>
              <a:t>GBM probability threshold was lowered from the default to T = 0.20.</a:t>
            </a:r>
          </a:p>
          <a:p>
            <a:pPr>
              <a:spcAft>
                <a:spcPts val="1000"/>
              </a:spcAft>
              <a:defRPr sz="2000"/>
            </a:pPr>
            <a:r>
              <a:t>Recall increased to 1.0000 (100% sensitivity) with 0 false negatives.</a:t>
            </a:r>
          </a:p>
          <a:p>
            <a:pPr>
              <a:spcAft>
                <a:spcPts val="1000"/>
              </a:spcAft>
              <a:defRPr sz="2000"/>
            </a:pPr>
            <a:r>
              <a:t>At T = 0.20: Precision = 0.7674, F1 = 0.8684; 33 TP, 18 TN, 10 FP, 0 FN.</a:t>
            </a:r>
          </a:p>
          <a:p>
            <a:pPr>
              <a:spcAft>
                <a:spcPts val="1000"/>
              </a:spcAft>
              <a:defRPr sz="2000"/>
            </a:pPr>
            <a:r>
              <a:t>This is a screening-oriented threshold, not a clinical treatment recommendation.</a:t>
            </a:r>
          </a:p>
        </p:txBody>
      </p:sp>
      <p:pic>
        <p:nvPicPr>
          <p:cNvPr id="4" name="Picture 3" descr="threshold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417320"/>
            <a:ext cx="4297680" cy="25280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Model Interpretability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6766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Logistic Regression odds ratios: cp OR = 1.829; thalachh OR = 1.539; exng OR = 0.643.</a:t>
            </a:r>
          </a:p>
          <a:p>
            <a:pPr>
              <a:spcAft>
                <a:spcPts val="1000"/>
              </a:spcAft>
              <a:defRPr sz="2000"/>
            </a:pPr>
            <a:r>
              <a:t>Permutation importance and Tree SHAP identified cp, slp, oldpeak and thalachh as important predictors.</a:t>
            </a:r>
          </a:p>
          <a:p>
            <a:pPr>
              <a:spcAft>
                <a:spcPts val="1000"/>
              </a:spcAft>
              <a:defRPr sz="2000"/>
            </a:pPr>
            <a:r>
              <a:t>Interpretability helps explain which features influence model predictions.</a:t>
            </a:r>
          </a:p>
        </p:txBody>
      </p:sp>
      <p:pic>
        <p:nvPicPr>
          <p:cNvPr id="4" name="Picture 3" descr="shap_summary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417320"/>
            <a:ext cx="4297680" cy="35993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SVM-RBF: Failure Mode &amp;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6766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benchmark paper reported severe SVM-RBF collapse under an unscaled configuration.</a:t>
            </a:r>
          </a:p>
          <a:p>
            <a:pPr>
              <a:spcAft>
                <a:spcPts val="1000"/>
              </a:spcAft>
              <a:defRPr sz="2000"/>
            </a:pPr>
            <a:r>
              <a:t>Our pipeline scales features within training folds and tunes C/γ with cross-validation.</a:t>
            </a:r>
          </a:p>
          <a:p>
            <a:pPr>
              <a:spcAft>
                <a:spcPts val="1000"/>
              </a:spcAft>
              <a:defRPr sz="2000"/>
            </a:pPr>
            <a:r>
              <a:t>Calibrated SVM-RBF achieved AUROC = 0.9307, Accuracy = 0.8689, Recall = 0.9394 and F1 = 0.8857.</a:t>
            </a:r>
          </a:p>
          <a:p>
            <a:pPr>
              <a:spcAft>
                <a:spcPts val="1000"/>
              </a:spcAft>
              <a:defRPr sz="2000"/>
            </a:pPr>
            <a:r>
              <a:t>This demonstrates the importance of scaling and hyperparameter tuning.</a:t>
            </a:r>
          </a:p>
        </p:txBody>
      </p:sp>
      <p:pic>
        <p:nvPicPr>
          <p:cNvPr id="4" name="Picture 3" descr="svm_rbf_collapse_fix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417320"/>
            <a:ext cx="4297680" cy="24174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Supervised models substantially outperformed unsupervised clustering for risk classification.</a:t>
            </a:r>
          </a:p>
          <a:p>
            <a:pPr>
              <a:spcAft>
                <a:spcPts val="1000"/>
              </a:spcAft>
              <a:defRPr sz="2000"/>
            </a:pPr>
            <a:r>
              <a:t>GBM produced the highest AUROC (0.9351), while Logistic Regression/Elastic Net produced the strongest recall and F1 at the default threshold.</a:t>
            </a:r>
          </a:p>
          <a:p>
            <a:pPr>
              <a:spcAft>
                <a:spcPts val="1000"/>
              </a:spcAft>
              <a:defRPr sz="2000"/>
            </a:pPr>
            <a:r>
              <a:t>Threshold tuning demonstrated a recall-first screening configuration with zero false negatives on the held-out test set.</a:t>
            </a:r>
          </a:p>
          <a:p>
            <a:pPr>
              <a:spcAft>
                <a:spcPts val="1000"/>
              </a:spcAft>
              <a:defRPr sz="2000"/>
            </a:pPr>
            <a:r>
              <a:t>The project extends the benchmark with leakage-controlled pipelines, broader model comparison and interpretability.</a:t>
            </a:r>
          </a:p>
          <a:p>
            <a:pPr>
              <a:spcAft>
                <a:spcPts val="1000"/>
              </a:spcAft>
              <a:defRPr sz="2000"/>
            </a:pPr>
            <a:r>
              <a:t>Limitations: small public dataset and no external clinical validation.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Shi, K., Bechler, K., &amp; Ho, V. (2021). Predicting myocardial infarction risk using supervised and unsupervised machine learning methods. Stanford CS229 Project Report.</a:t>
            </a:r>
          </a:p>
          <a:p>
            <a:pPr>
              <a:spcAft>
                <a:spcPts val="1000"/>
              </a:spcAft>
              <a:defRPr sz="2000"/>
            </a:pPr>
            <a:r>
              <a:t>Heart Attack Analysis &amp; Prediction Dataset, Kaggle.</a:t>
            </a:r>
          </a:p>
          <a:p>
            <a:pPr>
              <a:spcAft>
                <a:spcPts val="1000"/>
              </a:spcAft>
              <a:defRPr sz="2000"/>
            </a:pPr>
            <a:r>
              <a:t>Pedregosa et al. (2011). Scikit-learn: Machine Learning in Python.</a:t>
            </a:r>
          </a:p>
          <a:p>
            <a:pPr>
              <a:spcAft>
                <a:spcPts val="1000"/>
              </a:spcAft>
              <a:defRPr sz="2000"/>
            </a:pPr>
            <a:r>
              <a:t>Lundberg &amp; Lee (2017). A Unified Approach to Interpreting Model Predictions.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679</Words>
  <Application>Microsoft Office PowerPoint</Application>
  <PresentationFormat>Widescreen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Predicting Myocardial Infarction Risk</vt:lpstr>
      <vt:lpstr>1. Problem Statement</vt:lpstr>
      <vt:lpstr>2. Dataset &amp; Preprocessing</vt:lpstr>
      <vt:lpstr>3. Methodology</vt:lpstr>
      <vt:lpstr>4. Unsupervised Learning</vt:lpstr>
      <vt:lpstr>5. Supervised Learning — Held-Out Test Results</vt:lpstr>
      <vt:lpstr>6. Clinical Threshold Analysis</vt:lpstr>
      <vt:lpstr>7. Model Interpretability</vt:lpstr>
      <vt:lpstr>8. SVM-RBF: Failure Mode &amp; Fix</vt:lpstr>
      <vt:lpstr>9. Conclusion</vt:lpstr>
      <vt:lpstr>10.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Gautam Krishna</cp:lastModifiedBy>
  <cp:revision>2</cp:revision>
  <dcterms:created xsi:type="dcterms:W3CDTF">2013-01-27T09:14:16Z</dcterms:created>
  <dcterms:modified xsi:type="dcterms:W3CDTF">2026-10-06T05:21:01Z</dcterms:modified>
  <cp:category/>
</cp:coreProperties>
</file>